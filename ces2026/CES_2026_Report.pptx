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CES 2026 전시장 전경 사진</a:t>
            </a:r>
            <a:br/>
            <a:r>
              <a:t>(컨벤션 센터 입구 또는 메인 홀 전경)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6F0"/>
                </a:solidFill>
                <a:latin typeface="Arial"/>
              </a:defRPr>
            </a:pPr>
            <a:r>
              <a:t>CES 2026 참관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Physical AI와 Software Defined Vehicle — AI가 화면을 벗어나 세상으로 나오다</a:t>
            </a:r>
            <a:br/>
            <a:r>
              <a:t>우지환 · 2026년 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들어가며 — 화면 밖으로 나온 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Physical AI — 지능이 몸을 얻다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SDV — 자동차의 OS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현장 체험 — Zoox · Waymo · Vegas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주목 기업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다섯 가지 메시지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57200"/>
            <a:ext cx="5303520" cy="59436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📷 CES 2026 전경 사진</a:t>
            </a:r>
            <a:br/>
            <a:r>
              <a:t>(라스베이거스 야경 또는 컨벤션 센터 전경)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CES 2026 웨스트 홀 입구 사진</a:t>
            </a:r>
            <a:br/>
            <a:r>
              <a:t>(참가자들이 입장하는 모습)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6F0"/>
                </a:solidFill>
                <a:latin typeface="Arial"/>
              </a:defRPr>
            </a:pPr>
            <a:r>
              <a:t>CES 2026은 달랐다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로봇이 걷고, 차가 스스로 생각하고, AI가 물리 세계로 나왔다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CES 2026 한눈에 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828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Arial"/>
              </a:defRPr>
            </a:pPr>
            <a:r>
              <a:t>148K+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참가자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2560320" cy="1828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16459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Arial"/>
              </a:defRPr>
            </a:pPr>
            <a:r>
              <a:t>4,500+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4688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전시 기업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2560320" cy="1828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Arial"/>
              </a:defRPr>
            </a:pPr>
            <a:r>
              <a:t>250만ft²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전시 면적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71600"/>
            <a:ext cx="2560320" cy="1828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Arial"/>
              </a:defRPr>
            </a:pPr>
            <a:r>
              <a:t>13개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688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베뉴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10698480" cy="292608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📷 CES 2026 쇼 플로어 전경 사진 (넓은 전시장 모습)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8095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CES 2026 쇼 플로어 사진</a:t>
            </a:r>
            <a:br/>
            <a:r>
              <a:t>(NVIDIA 또는 주요 부스가 보이는 전시장)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NVIDIA: "Physical AI의 시대가 시작됐다"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Jensen Huang CES 2026 키노트 핵심: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🧠 The Brain — 기반 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   Cosmos Reason 2: 물리적 속성 추론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🦾 The Body — 물리적 구현체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649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   Cosmos Predict 2.5: 행동 결과 예측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🌍 The World — 실제 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   Sim-to-Real: 가상→현실 학습 전이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Arial"/>
              </a:defRPr>
            </a:pPr>
            <a:r>
              <a:t>AI가 몸을 얻고, 물리 세계에서 감지·판단·행동하는 시대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6F0"/>
                </a:solidFill>
                <a:latin typeface="Arial"/>
              </a:defRPr>
            </a:pPr>
            <a:r>
              <a:t>Vera Rubin — 차세대 AI 슈퍼칩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9AA8"/>
                </a:solidFill>
                <a:latin typeface="Arial"/>
              </a:defRPr>
            </a:pPr>
            <a:r>
              <a:t>6-Chip Co-design · 추론 비용 1/10 절감 · Alpamayo 오픈소스</a:t>
            </a:r>
            <a:br/>
            <a:r>
              <a:t>자율주행차, 로봇, 산업 자동화를 하나의 허브로 연결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9AA8"/>
                </a:solidFill>
                <a:latin typeface="Arial"/>
              </a:defRPr>
            </a:pPr>
            <a:r>
              <a:t>Physical AI — 지능이 몸을 얻다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CES 2026 전시 부스 사진</a:t>
            </a:r>
            <a:br/>
            <a:r>
              <a:t>(로봇 또는 자동차 관련 부스)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로봇 혁명 — 50+ 휴머노이드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CES 2026 웨스트 홀 = 로봇 박람회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29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현대 × Boston Dynamics 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140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→ 2028년 제조 현장 투입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98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→ SDF(Software Defined Factory)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649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Unitree G1 — $13,500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→ 35kg, 3D LiDAR+카메라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33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→ 휴머노이드 대중화의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000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Sanctuary AI · LG CLOiD · Doosan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8095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CES 2026 디스플레이 전시 사진</a:t>
            </a:r>
            <a:br/>
            <a:r>
              <a:t>(Samsung/LG 등 디스플레이 부스)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산업 Physical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Caterpillar — 자율 광산 운반 24시간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John Deere — AI 잡초 감지·제거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Kubota — 소규모 농가 AI 민주화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980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Hesai — LiDAR 누적 100만 개 돌파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→ ADAS + Robotics 이중 트랙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Doosan Robotics — AI 협동 로봇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3308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Bucket Robotics — 자율 굴삭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Arial"/>
              </a:defRPr>
            </a:pPr>
            <a:r>
              <a:t>제조, 물류, 농업, 가정까지 — AI가 물리 세계에서 작동하는 시대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9AA8"/>
                </a:solidFill>
                <a:latin typeface="Arial"/>
              </a:defRPr>
            </a:pPr>
            <a:r>
              <a:t>Software Defined Vehicle</a:t>
            </a:r>
            <a:br/>
            <a:r>
              <a:t>자동차의 OS 전환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SDV 시장 — iPhone/Android 모멘트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22860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Arial"/>
              </a:defRPr>
            </a:pPr>
            <a:r>
              <a:t>$2,135억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2024 SDV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01168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C63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3200400" cy="22860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Arial"/>
              </a:defRPr>
            </a:pPr>
            <a:r>
              <a:t>$1조 2,400억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468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2030 SDV 시장 전망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371600"/>
            <a:ext cx="3200400" cy="22860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Arial"/>
              </a:defRPr>
            </a:pPr>
            <a:r>
              <a:t>3.4%→90%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468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SDV 비중</a:t>
            </a:r>
            <a:br/>
            <a:r>
              <a:t>(2024→2029)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9AA8"/>
                </a:solidFill>
                <a:latin typeface="Arial"/>
              </a:defRPr>
            </a:pPr>
            <a:r>
              <a:t>자동차 산업은 지금 스마트폰이 겪었던 OS 전환을 통과하고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63FF"/>
                </a:solidFill>
                <a:latin typeface="Arial"/>
              </a:defRPr>
            </a:pPr>
            <a:r>
              <a:t>피처폰 → iOS/Android  =  기계 중심 → 소프트웨어 중심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SDV 5계층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L5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Physical Embodiment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HMG · Caterpillar · Kia PBV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L4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Autonomous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Waymo · Zoox · Cerence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37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World Model &amp; Perception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HERE · Hesai · NVIDIA Cosmos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43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Digital Nervous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QNX · Elektrobit · dSPACE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L1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Silicon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Qualcomm · NVIDIA · Synopsys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Arial"/>
              </a:defRPr>
            </a:pPr>
            <a:r>
              <a:t>승자 = 전체 스택을 통제하고 최적화하는 기업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Waymo 로보택시 사진</a:t>
            </a:r>
            <a:br/>
            <a:r>
              <a:t>(Jaguar I-PACE 기반 자율주행 차량)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Waymo — 풀스택 플랫폼 사업자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주당 25만 건+ 라이드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5개 도시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311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100억 마일+ 자율주행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98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OS · 센서 · 매핑 · 시뮬레이션 ·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821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→ 모두 통제하는 풀스택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Tesla와 함께 SDV 경쟁의 기준점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완성차 OEM의 SDV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94560" cy="4114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Arial"/>
              </a:defRPr>
            </a:pPr>
            <a:r>
              <a:t>Kia PBV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PV5(2026) · PV7(2027)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Easy Swap 모듈 전환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차량 = 플랫폼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194560" cy="4114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Arial"/>
              </a:defRPr>
            </a:pPr>
            <a:r>
              <a:t>BMW iX3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0116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Alexa + LLM 통합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파노라믹 디스플레이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자연어 차량 제어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2194560" cy="4114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Arial"/>
              </a:defRPr>
            </a:pPr>
            <a:r>
              <a:t>AFEELA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0116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$89,900 · Cloud AI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PlayStation 통합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움직이는 엔터테인먼트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2194560" cy="4114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Arial"/>
              </a:defRPr>
            </a:pPr>
            <a:r>
              <a:t>VW 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0116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ChatGPT 차량 통합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자연어 질문 즉답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LLM = 기본 인터페이스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194560" cy="41148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Arial"/>
              </a:defRPr>
            </a:pPr>
            <a:r>
              <a:t>Geely/Zeekr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20116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GEEA 3.0 아키텍처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Xingrui LLM</a:t>
            </a:r>
          </a:p>
          <a:p>
            <a:pPr>
              <a:spcAft>
                <a:spcPts val="400"/>
              </a:spcAft>
              <a:defRPr sz="1400" b="0">
                <a:solidFill>
                  <a:srgbClr val="9C9AA8"/>
                </a:solidFill>
                <a:latin typeface="Arial"/>
              </a:defRPr>
            </a:pPr>
            <a:r>
              <a:t>차량·모바일·홈 통합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8095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CES 2026 쇼 플로어 전경</a:t>
            </a:r>
            <a:br/>
            <a:r>
              <a:t>(넓은 전시장 모습, 다양한 부스)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플랫폼 전쟁의 주역들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Qualcomm — Snapdragon Digital Chassis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100개+ OEM · $220억 목표(2029)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BlackBerry QNX — QNX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980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SDP 8.0 무료 제공 · 7,500+ 고객사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ISO 26262 ASIL-D 인증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Elektrobit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3308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AMD + Android Auto + Gemini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171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+ Unreal Engine + HERE 통합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9AA8"/>
                </a:solidFill>
                <a:latin typeface="Arial"/>
              </a:defRPr>
            </a:pPr>
            <a:r>
              <a:t>현장 체험</a:t>
            </a:r>
            <a:br/>
            <a:r>
              <a:t>Zoox · Waymo · Vegas Loop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Zoox 로보택시 외관 사진</a:t>
            </a:r>
            <a:br/>
            <a:r>
              <a:t>(핸들 없는 전용 설계 차량 전체 모습)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6F0"/>
                </a:solidFill>
                <a:latin typeface="Arial"/>
              </a:defRPr>
            </a:pPr>
            <a:r>
              <a:t>Zoox — 핸들 없는 차에 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Amazon 산하 · 전용 설계 로보택시 · 핸들도 페달도 없다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Zoox 차량 내부 사진</a:t>
            </a:r>
            <a:br/>
            <a:r>
              <a:t>(양방향 좌석, 디스플레이, LiDAR 센서)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Zoox 탑승 체험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양방향 좌석 · 360도 LiDAR+카메라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앱으로 호출 → 자동 도착 → 슬라이딩 도어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140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100만 마일+ 자율주행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98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30만+ 탑승객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649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5분 지나니 운전자가 없다는 사실을 잊었다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한계: 운행 구간 제한적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15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핵심: '완벽한 기술'이 아닌 '충분히 안전한 서비스'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Zoox 탑승 인사이트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46304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8E6F0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6F0"/>
                </a:solidFill>
                <a:latin typeface="Arial"/>
              </a:defRPr>
            </a:pPr>
            <a:r>
              <a:t>Perception →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20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인식에서 추론으로 — 모호한 상황에서 판단하는 능력이 L4의 핵심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46304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8E6F0"/>
                </a:solidFill>
                <a:latin typeface="Arial"/>
              </a:defRPr>
            </a:pPr>
            <a:r>
              <a:t>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6F0"/>
                </a:solidFill>
                <a:latin typeface="Arial"/>
              </a:defRPr>
            </a:pPr>
            <a:r>
              <a:t>도시 인프라 공진화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66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기술만의 문제가 아닌 도시 설계·규제·보험 생태계 전체의 공진화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698480" cy="146304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8E6F0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6F0"/>
                </a:solidFill>
                <a:latin typeface="Arial"/>
              </a:defRPr>
            </a:pPr>
            <a:r>
              <a:t>비즈니스 모델 재편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212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운전자 인건비 60~70% → 자율주행으로 비용 구조 근본 변화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Zoox vs Waymo: 두 가지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📷 Zoox 로보택시 사진</a:t>
            </a:r>
            <a:br/>
            <a:r>
              <a:t>(외관 또는 측면)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📷 Waymo 로보택시 사진</a:t>
            </a:r>
            <a:br/>
            <a:r>
              <a:t>(센서 어레이 또는 주행 모습)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Arial"/>
              </a:defRPr>
            </a:pPr>
            <a:r>
              <a:t>Zoox — 전용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9AA8"/>
                </a:solidFill>
                <a:latin typeface="Arial"/>
              </a:defRPr>
            </a:pPr>
            <a:r>
              <a:t>핸들 없는 완전 새 설계</a:t>
            </a:r>
            <a:br/>
            <a:r>
              <a:t>탑승 경험 차별화</a:t>
            </a:r>
            <a:br/>
            <a:r>
              <a:t>스케일링은 과제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Arial"/>
              </a:defRPr>
            </a:pPr>
            <a:r>
              <a:t>Waymo — 기존 차량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9AA8"/>
                </a:solidFill>
                <a:latin typeface="Arial"/>
              </a:defRPr>
            </a:pPr>
            <a:r>
              <a:t>OEM 양산 라인 활용</a:t>
            </a:r>
            <a:br/>
            <a:r>
              <a:t>심리적 진입 장벽 낮음</a:t>
            </a:r>
            <a:br/>
            <a:r>
              <a:t>주당 25만 건+ 라이드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Vegas Loop 터널 사진</a:t>
            </a:r>
            <a:br/>
            <a:r>
              <a:t>(지하 터널 내부 또는 Tesla 차량)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Vegas Loop — 지하의 자율주행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The Boring Company 지하 터널 루프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Tesla 차량으로 주요 지점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140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CES 기간 8만 명+ 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98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10마일+ 운영 → 68마일 확장 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821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리조트 $4.25 · 공항 $12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지상 로보택시 + 지하 터널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3308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→ AI 통합 모빌리티 네트워크의 프로토타입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9AA8"/>
                </a:solidFill>
                <a:latin typeface="Arial"/>
              </a:defRPr>
            </a:pPr>
            <a:r>
              <a:t>모빌리티 분야에서 주목한 기업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E6F0"/>
                </a:solidFill>
                <a:latin typeface="Arial"/>
              </a:defRPr>
            </a:pPr>
            <a:r>
              <a:t>모빌리티 분야에서 주목한 기업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Arial"/>
              </a:defRPr>
            </a:pPr>
            <a:r>
              <a:t>🚗 Autonomous Driving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69848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C63FF"/>
                </a:solidFill>
                <a:latin typeface="Arial"/>
              </a:defRPr>
            </a:pPr>
            <a:r>
              <a:t>Waymo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069848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C63FF"/>
                </a:solidFill>
                <a:latin typeface="Arial"/>
              </a:defRPr>
            </a:pPr>
            <a:r>
              <a:t>Zoox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1069848"/>
            <a:ext cx="100584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C63FF"/>
                </a:solidFill>
                <a:latin typeface="Arial"/>
              </a:defRPr>
            </a:pPr>
            <a:r>
              <a:t>Mobileye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1069848"/>
            <a:ext cx="8229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C63FF"/>
                </a:solidFill>
                <a:latin typeface="Arial"/>
              </a:defRPr>
            </a:pPr>
            <a:r>
              <a:t>Imagry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67328" y="1069848"/>
            <a:ext cx="12801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C63FF"/>
                </a:solidFill>
                <a:latin typeface="Arial"/>
              </a:defRPr>
            </a:pPr>
            <a:r>
              <a:t>Tensor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72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9CFF"/>
                </a:solidFill>
                <a:latin typeface="Arial"/>
              </a:defRPr>
            </a:pPr>
            <a:r>
              <a:t>⚡ EV &amp; SDV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65376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HMG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1" y="1865376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Geely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92224" y="1865376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ZF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1865376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KPIT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7" y="1865376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865376"/>
            <a:ext cx="100584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HL Mando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865376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Mobis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185416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9CFF"/>
                </a:solidFill>
                <a:latin typeface="Arial"/>
              </a:defRPr>
            </a:pPr>
            <a:r>
              <a:t>WIA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6883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🖥️ OS &amp; Middleware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980944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QNX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1" y="2980944"/>
            <a:ext cx="11887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Elektrobit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9424" y="2980944"/>
            <a:ext cx="12801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Green Hills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2736" y="2980944"/>
            <a:ext cx="91440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Sonatus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0288" y="2980944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4838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rial"/>
              </a:defRPr>
            </a:pPr>
            <a:r>
              <a:t>🎯 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776472"/>
            <a:ext cx="91440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Cerence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61872" y="3776472"/>
            <a:ext cx="11887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SoundHound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23744" y="3776472"/>
            <a:ext cx="10972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Smart Eye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94176" y="3776472"/>
            <a:ext cx="10972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emotion3D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279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Arial"/>
              </a:defRPr>
            </a:pPr>
            <a:r>
              <a:t>🤖 Robotics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572000"/>
            <a:ext cx="8229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F4444"/>
                </a:solidFill>
                <a:latin typeface="Arial"/>
              </a:defRPr>
            </a:pPr>
            <a:r>
              <a:t>Doosan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70432" y="4572000"/>
            <a:ext cx="8229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F4444"/>
                </a:solidFill>
                <a:latin typeface="Arial"/>
              </a:defRPr>
            </a:pPr>
            <a:r>
              <a:t>Bucket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Arial"/>
              </a:defRPr>
            </a:pPr>
            <a:r>
              <a:t>🧪 Simulation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069848"/>
            <a:ext cx="100584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A78BFA"/>
                </a:solidFill>
                <a:latin typeface="Arial"/>
              </a:defRPr>
            </a:pPr>
            <a:r>
              <a:t>Synopsys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6912" y="1069848"/>
            <a:ext cx="8229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A78BFA"/>
                </a:solidFill>
                <a:latin typeface="Arial"/>
              </a:defRPr>
            </a:pPr>
            <a:r>
              <a:t>dSPACE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93024" y="1069848"/>
            <a:ext cx="91440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A78BFA"/>
                </a:solidFill>
                <a:latin typeface="Arial"/>
              </a:defRPr>
            </a:pPr>
            <a:r>
              <a:t>Cognata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069848"/>
            <a:ext cx="11887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A78BFA"/>
                </a:solidFill>
                <a:latin typeface="Arial"/>
              </a:defRPr>
            </a:pPr>
            <a:r>
              <a:t>Foretellix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572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Arial"/>
              </a:defRPr>
            </a:pPr>
            <a:r>
              <a:t>🔲 AI Chips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865376"/>
            <a:ext cx="8229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0A5FA"/>
                </a:solidFill>
                <a:latin typeface="Arial"/>
              </a:defRPr>
            </a:pPr>
            <a:r>
              <a:t>NVIDIA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14032" y="1865376"/>
            <a:ext cx="100584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0A5FA"/>
                </a:solidFill>
                <a:latin typeface="Arial"/>
              </a:defRPr>
            </a:pPr>
            <a:r>
              <a:t>Qualcomm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3024" y="1865376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0A5FA"/>
                </a:solidFill>
                <a:latin typeface="Arial"/>
              </a:defRPr>
            </a:pPr>
            <a:r>
              <a:t>Hailo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3682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📡 Sensors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2660903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AEye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31152" y="2660903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Hesai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35824" y="2660903"/>
            <a:ext cx="10972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RoboSense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06256" y="2660903"/>
            <a:ext cx="11887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LG Innotek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68128" y="2660903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BOE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81360" y="2660903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Aeva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2980944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Arbe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31152" y="2980944"/>
            <a:ext cx="91440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Innoviz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18704" y="2980944"/>
            <a:ext cx="91440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Lidwave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4838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Arial"/>
              </a:defRPr>
            </a:pPr>
            <a:r>
              <a:t>🏗️ Industry 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3776472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BBF24"/>
                </a:solidFill>
                <a:latin typeface="Arial"/>
              </a:defRPr>
            </a:pPr>
            <a:r>
              <a:t>Deere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22592" y="3776472"/>
            <a:ext cx="6400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BBF24"/>
                </a:solidFill>
                <a:latin typeface="Arial"/>
              </a:defRPr>
            </a:pPr>
            <a:r>
              <a:t>CAT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35823" y="3776472"/>
            <a:ext cx="82296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BBF24"/>
                </a:solidFill>
                <a:latin typeface="Arial"/>
              </a:defRPr>
            </a:pPr>
            <a:r>
              <a:t>Kubota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1936" y="3776472"/>
            <a:ext cx="10972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BBF24"/>
                </a:solidFill>
                <a:latin typeface="Arial"/>
              </a:defRPr>
            </a:pPr>
            <a:r>
              <a:t>Brunswick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02367" y="3776472"/>
            <a:ext cx="91440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BBF24"/>
                </a:solidFill>
                <a:latin typeface="Arial"/>
              </a:defRPr>
            </a:pPr>
            <a:r>
              <a:t>Oshkosh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279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Arial"/>
              </a:defRPr>
            </a:pPr>
            <a:r>
              <a:t>🔋 Beyond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572000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87171"/>
                </a:solidFill>
                <a:latin typeface="Arial"/>
              </a:defRPr>
            </a:pPr>
            <a:r>
              <a:t>Aptiv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22592" y="4572000"/>
            <a:ext cx="73152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87171"/>
                </a:solidFill>
                <a:latin typeface="Arial"/>
              </a:defRPr>
            </a:pPr>
            <a:r>
              <a:t>Valeo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27264" y="4572000"/>
            <a:ext cx="91440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87171"/>
                </a:solidFill>
                <a:latin typeface="Arial"/>
              </a:defRPr>
            </a:pPr>
            <a:r>
              <a:t>Electra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14816" y="4572000"/>
            <a:ext cx="10972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87171"/>
                </a:solidFill>
                <a:latin typeface="Arial"/>
              </a:defRPr>
            </a:pPr>
            <a:r>
              <a:t>Autofleet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85248" y="4572000"/>
            <a:ext cx="1097280" cy="274320"/>
          </a:xfrm>
          <a:prstGeom prst="roundRect">
            <a:avLst/>
          </a:prstGeom>
          <a:solidFill>
            <a:srgbClr val="151520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87171"/>
                </a:solidFill>
                <a:latin typeface="Arial"/>
              </a:defRPr>
            </a:pPr>
            <a:r>
              <a:t>Donut Lab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AA8"/>
                </a:solidFill>
                <a:latin typeface="Arial"/>
              </a:defRPr>
            </a:pPr>
            <a:r>
              <a:t>■ Key Theme    ■ Sub Theme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8095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CES 2026 전시 부스 사진</a:t>
            </a:r>
            <a:br/>
            <a:r>
              <a:t>(로봇 또는 자동차 관련 부스)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Key Themes — 자율주행 &amp; SDV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🚗 Waymo · Zoox · Mobileye · Imagry · Tensor Auto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⚡ HMG · Geely · ZF · KPIT ·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 HL Mando · Mobis · WIA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🖥️ QNX · Elektrobit · Green Hills · Sonatus · 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🎯 Cerence · SoundHound · Smart Eye · emotion3D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🤖 Doosan Robotics · Bucket Robotics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라스베이거스 현장 사진</a:t>
            </a:r>
            <a:br/>
            <a:r>
              <a:t>(CES 기간 거리 풍경)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Sub Themes — 시뮬레이션 · 칩 · 센서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🧪 Synopsys · dSPACE · Cognata · Foretellix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29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🔲 NVIDIA · Qualcomm · Hailo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968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📡 AEye · Hesai · RoboSense · LG Innotek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80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 BOE · Aeva · Arbe · Innoviz · Lidwave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8095" y="0"/>
            <a:ext cx="5943600" cy="68580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AA8"/>
                </a:solidFill>
                <a:latin typeface="Arial"/>
              </a:defRPr>
            </a:pPr>
            <a:r>
              <a:t>CES 2026 거리 풍경</a:t>
            </a:r>
            <a:br/>
            <a:r>
              <a:t>(라스베이거스 스트립 또는 컨벤션 주변)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6F0"/>
                </a:solidFill>
                <a:latin typeface="Arial"/>
              </a:defRPr>
            </a:pPr>
            <a:r>
              <a:t>Sub Themes — 산업 AI · Beyond Mobility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🏗️ John Deere · Caterpillar · Kubota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 Brunswick · Oshkosh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🔋 Aptiv · Valeo · Electra 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980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   Autofleet · Donut Lab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Arial"/>
              </a:defRPr>
            </a:pPr>
            <a:r>
              <a:t>종합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9AA8"/>
                </a:solidFill>
                <a:latin typeface="Arial"/>
              </a:defRPr>
            </a:pPr>
            <a:r>
              <a:t>CES 2026이 남긴 다섯 가지 메시지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6C63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F0"/>
                </a:solidFill>
                <a:latin typeface="Arial"/>
              </a:defRPr>
            </a:pPr>
            <a:r>
              <a:t>AI는 이제 행동한다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움직이고, 감지하고, 행동한다.</a:t>
            </a:r>
            <a:br/>
            <a:r>
              <a:t>자율주행차, 로봇, 산업 기계가 공통의</a:t>
            </a:r>
            <a:br/>
            <a:r>
              <a:t>'구현 지능 스택'을 공유하기 시작했다.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6C63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F0"/>
                </a:solidFill>
                <a:latin typeface="Arial"/>
              </a:defRPr>
            </a:pPr>
            <a:r>
              <a:t>부품에서 플랫폼으로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개별 센서나 칩이 아니라</a:t>
            </a:r>
            <a:br/>
            <a:r>
              <a:t>엔드-투-엔드 플랫폼을 누가 장악하느냐가</a:t>
            </a:r>
            <a:br/>
            <a:r>
              <a:t>승부를 가른다.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6C63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F0"/>
                </a:solidFill>
                <a:latin typeface="Arial"/>
              </a:defRPr>
            </a:pPr>
            <a:r>
              <a:t>SDV는 OS 전쟁이다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미들웨어, 소프트웨어 아키텍처,</a:t>
            </a:r>
            <a:br/>
            <a:r>
              <a:t>OTA 업데이트 역량이</a:t>
            </a:r>
            <a:br/>
            <a:r>
              <a:t>OEM의 미래 경쟁력을 결정한다.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6C63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F0"/>
                </a:solidFill>
                <a:latin typeface="Arial"/>
              </a:defRPr>
            </a:pPr>
            <a:r>
              <a:t>인간 중심 UX가 차별화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안전, 신뢰, 설명 가능성, 직관적 사용성이</a:t>
            </a:r>
            <a:br/>
            <a:r>
              <a:t>소프트웨어 진화의 완성점이다.</a:t>
            </a:r>
            <a:br/>
            <a:r>
              <a:t>'차가 나를 이해하는' 경험이 브랜드를 결정한다.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6C63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F0"/>
                </a:solidFill>
                <a:latin typeface="Arial"/>
              </a:defRPr>
            </a:pPr>
            <a:r>
              <a:t>Physical AI = 문명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제조, 에너지, 헬스케어, 도시, 농업까지 —</a:t>
            </a:r>
            <a:br/>
            <a:r>
              <a:t>AI는 모든 산업 변혁의 핵심 엔진이다.</a:t>
            </a:r>
            <a:br/>
            <a:r>
              <a:t>모빌리티를 넘어 문명의 인프라가 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라스베이거스 야경 사진</a:t>
            </a:r>
            <a:br/>
            <a:r>
              <a:t>(CES 기간 밤 풍경)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6F0"/>
                </a:solidFill>
                <a:latin typeface="Arial"/>
              </a:defRPr>
            </a:pPr>
            <a:r>
              <a:t>승자는 플랫폼을 통제하고,</a:t>
            </a:r>
            <a:br/>
            <a:r>
              <a:t>소프트웨어를 장악하며,</a:t>
            </a:r>
            <a:br/>
            <a:r>
              <a:t>인간 경험을 설계하는 자다.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비즈니스 임플리케이션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Physical AI 투자 가속화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25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로봇·자율주행·산업 자동화 예산 확대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SDV 전환 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331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소프트웨어 역량 내재화 또는 파트너십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플랫폼 전략 수립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337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단일 기술이 아닌 스택 통합 관점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인간 중심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343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UX/AI 인터페이스 투자 우선순위 상향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49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03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6F0"/>
                </a:solidFill>
                <a:latin typeface="Arial"/>
              </a:defRPr>
            </a:pPr>
            <a:r>
              <a:t>생태계 포지셔닝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349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5계층 아키텍처에서 자사의 위치 정의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222230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Arial"/>
              </a:defRPr>
            </a:pPr>
            <a:r>
              <a:t>📷 사진 삽입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AA8"/>
                </a:solidFill>
                <a:latin typeface="Arial"/>
              </a:defRPr>
            </a:pPr>
            <a:r>
              <a:t>CES 2026 전경 사진</a:t>
            </a:r>
            <a:br/>
            <a:r>
              <a:t>(파노라마 또는 넓은 각도)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8E6F0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9AA8"/>
                </a:solidFill>
                <a:latin typeface="Arial"/>
              </a:defRPr>
            </a:pPr>
            <a:r>
              <a:t>감사합니다</a:t>
            </a:r>
            <a:br/>
            <a:br/>
            <a:r>
              <a:t>우지환 · AWS Senior Specialist Partner SA — AI/ML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6F0"/>
                </a:solidFill>
                <a:latin typeface="Arial"/>
              </a:defRPr>
            </a:pPr>
            <a:r>
              <a:t>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CES 2026 공식: ces.tech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NVIDIA CES 키노트: blogs.nvidia.com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S&amp;P Global Automotive: spglobal.com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Waymo: waymo.com · Zoox: zoox.com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Vegas Loop: vegasloop.com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39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Kia PBV: kia.com · AFEELA: shm-afeela.com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AA8"/>
                </a:solidFill>
                <a:latin typeface="Arial"/>
              </a:defRPr>
            </a:pPr>
            <a:r>
              <a:t>본 보고서는 CES 2026 현장 참관 및 수집 자료를 바탕으로 작성되었습니다.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